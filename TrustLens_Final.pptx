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55448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8760" y="1481328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6000" b="1">
                <a:solidFill>
                  <a:srgbClr val="EAF6F0"/>
                </a:solidFill>
                <a:latin typeface="Segoe UI"/>
              </a:rPr>
              <a:t>Trust</a:t>
            </a:r>
            <a:r>
              <a:rPr sz="6000" b="1">
                <a:solidFill>
                  <a:srgbClr val="10E89C"/>
                </a:solidFill>
                <a:latin typeface="Segoe UI"/>
              </a:rPr>
              <a:t>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974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EAF6F0"/>
                </a:solidFill>
                <a:latin typeface="Segoe UI"/>
              </a:rPr>
              <a:t>AI Document-Fraud Detection for Bank Underwriting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31012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10E89C"/>
                </a:solidFill>
                <a:latin typeface="Segoe UI"/>
              </a:rPr>
              <a:t>On-premise</a:t>
            </a:r>
            <a:r>
              <a:rPr sz="1500" b="0">
                <a:solidFill>
                  <a:srgbClr val="9DB0A8"/>
                </a:solidFill>
                <a:latin typeface="Segoe UI"/>
              </a:rPr>
              <a:t>  ·  Explainable  ·  Human-in-the-loop  ·  RBI / DPDP-friendly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297680"/>
            <a:ext cx="2606040" cy="137160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49884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10E89C"/>
                </a:solidFill>
                <a:latin typeface="Segoe UI"/>
              </a:rPr>
              <a:t>98.6%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495604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9DB0A8"/>
                </a:solidFill>
                <a:latin typeface="Segoe UI"/>
              </a:rPr>
              <a:t>Fraud caught (benchmark)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4297680"/>
            <a:ext cx="2606040" cy="137160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449884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EAF6F0"/>
                </a:solidFill>
                <a:latin typeface="Segoe UI"/>
              </a:rPr>
              <a:t>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7" y="495604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9DB0A8"/>
                </a:solidFill>
                <a:latin typeface="Segoe UI"/>
              </a:rPr>
              <a:t>Document types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297680"/>
            <a:ext cx="2606040" cy="137160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449884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10E89C"/>
                </a:solidFill>
                <a:latin typeface="Segoe U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8" y="495604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9DB0A8"/>
                </a:solidFill>
                <a:latin typeface="Segoe UI"/>
              </a:rPr>
              <a:t>Customer-data egress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4297680"/>
            <a:ext cx="2606040" cy="137160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449884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EAF6F0"/>
                </a:solidFill>
                <a:latin typeface="Segoe UI"/>
              </a:rPr>
              <a:t>&lt;5s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3768" y="495604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9DB0A8"/>
                </a:solidFill>
                <a:latin typeface="Segoe UI"/>
              </a:rPr>
              <a:t>Per-document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Canara Bank Hackathon · Final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5448" cy="155448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EAF6F0"/>
                </a:solidFill>
                <a:latin typeface="Segoe UI"/>
              </a:rPr>
              <a:t>Trust</a:t>
            </a:r>
            <a:r>
              <a:rPr sz="1400" b="1">
                <a:solidFill>
                  <a:srgbClr val="10E89C"/>
                </a:solidFill>
                <a:latin typeface="Segoe UI"/>
              </a:rPr>
              <a:t>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E89C"/>
                </a:solidFill>
                <a:latin typeface="Segoe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252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>
                <a:solidFill>
                  <a:srgbClr val="EAF6F0"/>
                </a:solidFill>
                <a:latin typeface="Segoe UI"/>
              </a:rPr>
              <a:t>Forged loan documents slip through manual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9DB0A8"/>
                </a:solidFill>
                <a:latin typeface="Segoe UI"/>
              </a:rPr>
              <a:t>TrustLens — AI Document-Fraud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50" b="1">
                <a:solidFill>
                  <a:srgbClr val="10E89C"/>
                </a:solidFill>
                <a:latin typeface="Segoe UI"/>
              </a:rPr>
              <a:t>▸  </a:t>
            </a:r>
            <a:r>
              <a:rPr sz="1550" b="0">
                <a:solidFill>
                  <a:srgbClr val="EAF6F0"/>
                </a:solidFill>
                <a:latin typeface="Segoe UI"/>
              </a:rPr>
              <a:t>Loan files are bundles of forgeable documents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532888"/>
            <a:ext cx="63825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DB0A8"/>
                </a:solidFill>
                <a:latin typeface="Segoe UI"/>
              </a:rPr>
              <a:t>Edited PDFs, pasted signatures, fake stamps, fabricated income &amp; identity.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50" b="1">
                <a:solidFill>
                  <a:srgbClr val="10E89C"/>
                </a:solidFill>
                <a:latin typeface="Segoe UI"/>
              </a:rPr>
              <a:t>▸  </a:t>
            </a:r>
            <a:r>
              <a:rPr sz="1550" b="0">
                <a:solidFill>
                  <a:srgbClr val="EAF6F0"/>
                </a:solidFill>
                <a:latin typeface="Segoe UI"/>
              </a:rPr>
              <a:t>Manual verification is slow and inconsistent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447288"/>
            <a:ext cx="63825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DB0A8"/>
                </a:solidFill>
                <a:latin typeface="Segoe UI"/>
              </a:rPr>
              <a:t>3–7 days per file; reviewers fatigue and miss sophisticated edits.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1480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50" b="1">
                <a:solidFill>
                  <a:srgbClr val="10E89C"/>
                </a:solidFill>
                <a:latin typeface="Segoe UI"/>
              </a:rPr>
              <a:t>▸  </a:t>
            </a:r>
            <a:r>
              <a:rPr sz="1550" b="0">
                <a:solidFill>
                  <a:srgbClr val="EAF6F0"/>
                </a:solidFill>
                <a:latin typeface="Segoe UI"/>
              </a:rPr>
              <a:t>Sophisticated forgeries beat the human eye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4361688"/>
            <a:ext cx="63825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DB0A8"/>
                </a:solidFill>
                <a:latin typeface="Segoe UI"/>
              </a:rPr>
              <a:t>A digit changed in Word, a swapped ID photo, a real PAN with the wrong name.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02920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50" b="1">
                <a:solidFill>
                  <a:srgbClr val="10E89C"/>
                </a:solidFill>
                <a:latin typeface="Segoe UI"/>
              </a:rPr>
              <a:t>▸  </a:t>
            </a:r>
            <a:r>
              <a:rPr sz="1550" b="0">
                <a:solidFill>
                  <a:srgbClr val="EAF6F0"/>
                </a:solidFill>
                <a:latin typeface="Segoe UI"/>
              </a:rPr>
              <a:t>Banks need speed AND a defensible audit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5276088"/>
            <a:ext cx="63825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DB0A8"/>
                </a:solidFill>
                <a:latin typeface="Segoe UI"/>
              </a:rPr>
              <a:t>Every decision must be explainable and logged for RBI compliance.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2286000"/>
            <a:ext cx="3749039" cy="338328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5146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0E89C"/>
                </a:solidFill>
                <a:latin typeface="Segoe UI"/>
              </a:rPr>
              <a:t>Cost of a miss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017520"/>
            <a:ext cx="32918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EAF6F0"/>
                </a:solidFill>
                <a:latin typeface="Segoe UI"/>
              </a:rPr>
              <a:t>Financial loss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9DB0A8"/>
                </a:solidFill>
                <a:latin typeface="Segoe UI"/>
              </a:rPr>
              <a:t>Fraudulent disbursement on a fabricated file.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EAF6F0"/>
                </a:solidFill>
                <a:latin typeface="Segoe UI"/>
              </a:rPr>
              <a:t>Regulatory risk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9DB0A8"/>
                </a:solidFill>
                <a:latin typeface="Segoe UI"/>
              </a:rPr>
              <a:t>No immutable record of why a file was approved.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EAF6F0"/>
                </a:solidFill>
                <a:latin typeface="Segoe UI"/>
              </a:rPr>
              <a:t>Slow genuine customers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9DB0A8"/>
                </a:solidFill>
                <a:latin typeface="Segoe UI"/>
              </a:rPr>
              <a:t>Honest applicants wait days behind manual checks.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5448" cy="155448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EAF6F0"/>
                </a:solidFill>
                <a:latin typeface="Segoe UI"/>
              </a:rPr>
              <a:t>Trust</a:t>
            </a:r>
            <a:r>
              <a:rPr sz="1400" b="1">
                <a:solidFill>
                  <a:srgbClr val="10E89C"/>
                </a:solidFill>
                <a:latin typeface="Segoe UI"/>
              </a:rPr>
              <a:t>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E89C"/>
                </a:solidFill>
                <a:latin typeface="Segoe UI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252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>
                <a:solidFill>
                  <a:srgbClr val="EAF6F0"/>
                </a:solidFill>
                <a:latin typeface="Segoe UI"/>
              </a:rPr>
              <a:t>Trust Score, visual evidence &amp; risk routing — in 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9DB0A8"/>
                </a:solidFill>
                <a:latin typeface="Segoe UI"/>
              </a:rPr>
              <a:t>TrustLens — AI Document-Fraud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77440"/>
            <a:ext cx="2697480" cy="292608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606040"/>
            <a:ext cx="411480" cy="411480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65176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1">
                <a:solidFill>
                  <a:srgbClr val="0B1410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EAF6F0"/>
                </a:solidFill>
                <a:latin typeface="Segoe UI"/>
              </a:rPr>
              <a:t>Analyse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2240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9DB0A8"/>
                </a:solidFill>
                <a:latin typeface="Segoe UI"/>
              </a:rPr>
              <a:t>10 forensic + AI checks on every page — metadata, fonts, ELA, copy-move, stamps, faces.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3008" y="2377440"/>
            <a:ext cx="2697480" cy="292608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1608" y="2606040"/>
            <a:ext cx="411480" cy="411480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85615" y="265176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1">
                <a:solidFill>
                  <a:srgbClr val="0B1410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32004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EAF6F0"/>
                </a:solidFill>
                <a:latin typeface="Segoe UI"/>
              </a:rPr>
              <a:t>Score &amp; 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608" y="3703320"/>
            <a:ext cx="2240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9DB0A8"/>
                </a:solidFill>
                <a:latin typeface="Segoe UI"/>
              </a:rPr>
              <a:t>An XGBoost Trust Score (0–100) with SHAP attribution and a plain-language LLM report.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0216" y="2377440"/>
            <a:ext cx="2697480" cy="292608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28816" y="2606040"/>
            <a:ext cx="411480" cy="411480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2824" y="265176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1">
                <a:solidFill>
                  <a:srgbClr val="0B1410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32004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EAF6F0"/>
                </a:solidFill>
                <a:latin typeface="Segoe UI"/>
              </a:rPr>
              <a:t>Route by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8816" y="3703320"/>
            <a:ext cx="2240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9DB0A8"/>
                </a:solidFill>
                <a:latin typeface="Segoe UI"/>
              </a:rPr>
              <a:t>GREEN fast-track · YELLOW review · RED escalate. It never auto-rejects.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07424" y="2377440"/>
            <a:ext cx="2697480" cy="292608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36024" y="2606040"/>
            <a:ext cx="411480" cy="411480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00032" y="265176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1">
                <a:solidFill>
                  <a:srgbClr val="0B1410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6024" y="32004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EAF6F0"/>
                </a:solidFill>
                <a:latin typeface="Segoe UI"/>
              </a:rPr>
              <a:t>Log immutably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6024" y="3703320"/>
            <a:ext cx="2240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9DB0A8"/>
                </a:solidFill>
                <a:latin typeface="Segoe UI"/>
              </a:rPr>
              <a:t>Every decision written to an append-only audit trail for compliance.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5778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10E89C"/>
                </a:solidFill>
                <a:latin typeface="Segoe UI"/>
              </a:rPr>
              <a:t>Bank-safe by design: </a:t>
            </a:r>
            <a:r>
              <a:rPr sz="1400" b="0">
                <a:solidFill>
                  <a:srgbClr val="EAF6F0"/>
                </a:solidFill>
                <a:latin typeface="Segoe UI"/>
              </a:rPr>
              <a:t>favours review over rejection — the human is faster and more confident, never replaced.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5448" cy="155448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EAF6F0"/>
                </a:solidFill>
                <a:latin typeface="Segoe UI"/>
              </a:rPr>
              <a:t>Trust</a:t>
            </a:r>
            <a:r>
              <a:rPr sz="1400" b="1">
                <a:solidFill>
                  <a:srgbClr val="10E89C"/>
                </a:solidFill>
                <a:latin typeface="Segoe UI"/>
              </a:rPr>
              <a:t>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E89C"/>
                </a:solidFill>
                <a:latin typeface="Segoe UI"/>
              </a:rPr>
              <a:t>HOW IT WORKS —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252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>
                <a:solidFill>
                  <a:srgbClr val="EAF6F0"/>
                </a:solidFill>
                <a:latin typeface="Segoe UI"/>
              </a:rPr>
              <a:t>One upload → a full forensic + AI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9DB0A8"/>
                </a:solidFill>
                <a:latin typeface="Segoe UI"/>
              </a:rPr>
              <a:t>TrustLens — AI Document-Fraud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1755648" cy="155448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926080"/>
            <a:ext cx="1536192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0E89C"/>
                </a:solidFill>
                <a:latin typeface="Segoe UI"/>
              </a:rPr>
              <a:t>Upload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9DB0A8"/>
                </a:solidFill>
                <a:latin typeface="Segoe UI"/>
              </a:rPr>
              <a:t>(PDF / image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9DB0A8"/>
                </a:solidFill>
                <a:latin typeface="Segoe UI"/>
              </a:rPr>
              <a:t>/ DOCX)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291840"/>
            <a:ext cx="12435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000" b="1">
                <a:solidFill>
                  <a:srgbClr val="10E89C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83510" y="2743200"/>
            <a:ext cx="1755648" cy="1554480"/>
          </a:xfrm>
          <a:prstGeom prst="roundRect">
            <a:avLst>
              <a:gd name="adj" fmla="val 7000"/>
            </a:avLst>
          </a:prstGeom>
          <a:solidFill>
            <a:srgbClr val="162720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93238" y="2926080"/>
            <a:ext cx="1536192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0E89C"/>
                </a:solidFill>
                <a:latin typeface="Segoe UI"/>
              </a:rPr>
              <a:t>Extract &amp; classify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9DB0A8"/>
                </a:solidFill>
                <a:latin typeface="Segoe UI"/>
              </a:rPr>
              <a:t>(OCR · LayoutLMv3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9DB0A8"/>
                </a:solidFill>
                <a:latin typeface="Segoe UI"/>
              </a:rPr>
              <a:t>· NER + regex)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0870" y="3291840"/>
            <a:ext cx="12435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000" b="1">
                <a:solidFill>
                  <a:srgbClr val="10E89C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6940" y="2743200"/>
            <a:ext cx="1755648" cy="155448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6668" y="2926080"/>
            <a:ext cx="1536192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0E89C"/>
                </a:solidFill>
                <a:latin typeface="Segoe UI"/>
              </a:rPr>
              <a:t>Forensics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9DB0A8"/>
                </a:solidFill>
                <a:latin typeface="Segoe UI"/>
              </a:rPr>
              <a:t>(7 signals +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9DB0A8"/>
                </a:solidFill>
                <a:latin typeface="Segoe UI"/>
              </a:rPr>
              <a:t>critical checks)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4300" y="3291840"/>
            <a:ext cx="12435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000" b="1">
                <a:solidFill>
                  <a:srgbClr val="10E89C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0371" y="2743200"/>
            <a:ext cx="1755648" cy="1554480"/>
          </a:xfrm>
          <a:prstGeom prst="roundRect">
            <a:avLst>
              <a:gd name="adj" fmla="val 7000"/>
            </a:avLst>
          </a:prstGeom>
          <a:solidFill>
            <a:srgbClr val="162720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0099" y="2926080"/>
            <a:ext cx="1536192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0E89C"/>
                </a:solidFill>
                <a:latin typeface="Segoe UI"/>
              </a:rPr>
              <a:t>Cross-source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9DB0A8"/>
                </a:solidFill>
                <a:latin typeface="Segoe UI"/>
              </a:rPr>
              <a:t>(DigiLocker · GSTN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9DB0A8"/>
                </a:solidFill>
                <a:latin typeface="Segoe UI"/>
              </a:rPr>
              <a:t>· Udyam · face)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7731" y="3291840"/>
            <a:ext cx="12435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000" b="1">
                <a:solidFill>
                  <a:srgbClr val="10E89C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3801" y="2743200"/>
            <a:ext cx="1755648" cy="155448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3529" y="2926080"/>
            <a:ext cx="1536192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0E89C"/>
                </a:solidFill>
                <a:latin typeface="Segoe UI"/>
              </a:rPr>
              <a:t>Trust Score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9DB0A8"/>
                </a:solidFill>
                <a:latin typeface="Segoe UI"/>
              </a:rPr>
              <a:t>(XGBoost + SHAP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9DB0A8"/>
                </a:solidFill>
                <a:latin typeface="Segoe UI"/>
              </a:rPr>
              <a:t>+ LLM report)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1161" y="3291840"/>
            <a:ext cx="12435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000" b="1">
                <a:solidFill>
                  <a:srgbClr val="10E89C"/>
                </a:solidFill>
                <a:latin typeface="Segoe U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57232" y="2743200"/>
            <a:ext cx="1755648" cy="1554480"/>
          </a:xfrm>
          <a:prstGeom prst="roundRect">
            <a:avLst>
              <a:gd name="adj" fmla="val 7000"/>
            </a:avLst>
          </a:prstGeom>
          <a:solidFill>
            <a:srgbClr val="162720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59" y="2926080"/>
            <a:ext cx="1536192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0E89C"/>
                </a:solidFill>
                <a:latin typeface="Segoe UI"/>
              </a:rPr>
              <a:t>Tier &amp; audit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9DB0A8"/>
                </a:solidFill>
                <a:latin typeface="Segoe UI"/>
              </a:rPr>
              <a:t>(GREEN/YELLOW/RED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9DB0A8"/>
                </a:solidFill>
                <a:latin typeface="Segoe UI"/>
              </a:rPr>
              <a:t>· append-only log)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937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EAF6F0"/>
                </a:solidFill>
                <a:latin typeface="Segoe UI"/>
              </a:rPr>
              <a:t>Runs entirely on-premise (Docker + RTX 4060). </a:t>
            </a:r>
            <a:r>
              <a:rPr sz="1400" b="1">
                <a:solidFill>
                  <a:srgbClr val="10E89C"/>
                </a:solidFill>
                <a:latin typeface="Segoe UI"/>
              </a:rPr>
              <a:t>No customer data ever leaves the bank.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5448" cy="155448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EAF6F0"/>
                </a:solidFill>
                <a:latin typeface="Segoe UI"/>
              </a:rPr>
              <a:t>Trust</a:t>
            </a:r>
            <a:r>
              <a:rPr sz="1400" b="1">
                <a:solidFill>
                  <a:srgbClr val="10E89C"/>
                </a:solidFill>
                <a:latin typeface="Segoe UI"/>
              </a:rPr>
              <a:t>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E89C"/>
                </a:solidFill>
                <a:latin typeface="Segoe UI"/>
              </a:rPr>
              <a:t>END-TO-END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252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>
                <a:solidFill>
                  <a:srgbClr val="EAF6F0"/>
                </a:solidFill>
                <a:latin typeface="Segoe UI"/>
              </a:rPr>
              <a:t>Four stages, a branch, two feedback loops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9DB0A8"/>
                </a:solidFill>
                <a:latin typeface="Segoe UI"/>
              </a:rPr>
              <a:t>TrustLens — AI Document-Fraud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32607" y="2103120"/>
            <a:ext cx="6126480" cy="658368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78911" y="2249424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8911" y="2267712"/>
            <a:ext cx="365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B1410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4399" y="2103120"/>
            <a:ext cx="1783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10E89C"/>
                </a:solidFill>
                <a:latin typeface="Segoe UI"/>
              </a:rPr>
              <a:t>INGEST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4327" y="2148839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9DB0A8"/>
                </a:solidFill>
                <a:latin typeface="Segoe UI"/>
              </a:rPr>
              <a:t>Upload PDF / image / DOCX  →  FastAPI · Celery + Redis · stored to MinIO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7247" y="2743199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800" b="1">
                <a:solidFill>
                  <a:srgbClr val="10E89C"/>
                </a:solidFill>
                <a:latin typeface="Segoe UI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32607" y="2944368"/>
            <a:ext cx="6126480" cy="658368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178911" y="3090672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78911" y="3108960"/>
            <a:ext cx="365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B1410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4399" y="2944368"/>
            <a:ext cx="1783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10E89C"/>
                </a:solidFill>
                <a:latin typeface="Segoe UI"/>
              </a:rPr>
              <a:t>UNDERSTAND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4327" y="2990087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9DB0A8"/>
                </a:solidFill>
                <a:latin typeface="Segoe UI"/>
              </a:rPr>
              <a:t>Normalise + OCR (en·hi·gu) · Classify: LayoutLMv3 + keyword (26 types) · Entities: regex + Verhoeff + 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67247" y="3584447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800" b="1">
                <a:solidFill>
                  <a:srgbClr val="10E89C"/>
                </a:solidFill>
                <a:latin typeface="Segoe UI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32607" y="3785615"/>
            <a:ext cx="6126480" cy="658368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78911" y="39319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78911" y="3950207"/>
            <a:ext cx="365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B1410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4399" y="3785615"/>
            <a:ext cx="1783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10E89C"/>
                </a:solidFill>
                <a:latin typeface="Segoe UI"/>
              </a:rPr>
              <a:t>ANALYSE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4327" y="3831335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9DB0A8"/>
                </a:solidFill>
                <a:latin typeface="Segoe UI"/>
              </a:rPr>
              <a:t>7 forensic signals · ELA · ManTraNet · stamp · font · photo-region  ·  Cross-source 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67247" y="4425696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800" b="1">
                <a:solidFill>
                  <a:srgbClr val="10E89C"/>
                </a:solidFill>
                <a:latin typeface="Segoe UI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32607" y="4626864"/>
            <a:ext cx="6126480" cy="658368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178911" y="4773168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78911" y="4791456"/>
            <a:ext cx="365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B1410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4399" y="4626864"/>
            <a:ext cx="1783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10E89C"/>
                </a:solidFill>
                <a:latin typeface="Segoe UI"/>
              </a:rPr>
              <a:t>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64327" y="4672584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9DB0A8"/>
                </a:solidFill>
                <a:latin typeface="Segoe UI"/>
              </a:rPr>
              <a:t>XGBoost Trust Score 0–100 + SHAP attribution  ·  local LLM evidence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67247" y="5266944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800" b="1">
                <a:solidFill>
                  <a:srgbClr val="10E89C"/>
                </a:solidFill>
                <a:latin typeface="Segoe UI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32607" y="5541264"/>
            <a:ext cx="1920240" cy="585216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32607" y="5541264"/>
            <a:ext cx="1920240" cy="91440"/>
          </a:xfrm>
          <a:prstGeom prst="rect">
            <a:avLst/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15487" y="5541264"/>
            <a:ext cx="16002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10E89C"/>
                </a:solidFill>
                <a:latin typeface="Segoe UI"/>
              </a:rPr>
              <a:t>GREEN   </a:t>
            </a:r>
            <a:r>
              <a:rPr sz="1100" b="0">
                <a:solidFill>
                  <a:srgbClr val="9DB0A8"/>
                </a:solidFill>
                <a:latin typeface="Segoe UI"/>
              </a:rPr>
              <a:t>Fast-track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35727" y="5541264"/>
            <a:ext cx="1920240" cy="585216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35727" y="5541264"/>
            <a:ext cx="1920240" cy="91440"/>
          </a:xfrm>
          <a:prstGeom prst="rect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18607" y="5541264"/>
            <a:ext cx="16002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F4A52A"/>
                </a:solidFill>
                <a:latin typeface="Segoe UI"/>
              </a:rPr>
              <a:t>YELLOW   </a:t>
            </a:r>
            <a:r>
              <a:rPr sz="1100" b="0">
                <a:solidFill>
                  <a:srgbClr val="9DB0A8"/>
                </a:solidFill>
                <a:latin typeface="Segoe UI"/>
              </a:rPr>
              <a:t>Review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38847" y="5541264"/>
            <a:ext cx="1920240" cy="585216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38847" y="5541264"/>
            <a:ext cx="1920240" cy="914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21727" y="5541264"/>
            <a:ext cx="16002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EF4444"/>
                </a:solidFill>
                <a:latin typeface="Segoe UI"/>
              </a:rPr>
              <a:t>RED   </a:t>
            </a:r>
            <a:r>
              <a:rPr sz="1100" b="0">
                <a:solidFill>
                  <a:srgbClr val="9DB0A8"/>
                </a:solidFill>
                <a:latin typeface="Segoe UI"/>
              </a:rPr>
              <a:t>Escalate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32607" y="61996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All outcomes  →  </a:t>
            </a:r>
            <a:r>
              <a:rPr sz="1100" b="1">
                <a:solidFill>
                  <a:srgbClr val="10E89C"/>
                </a:solidFill>
                <a:latin typeface="Segoe UI"/>
              </a:rPr>
              <a:t>append-only audit log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3154680"/>
            <a:ext cx="2194560" cy="1325880"/>
          </a:xfrm>
          <a:prstGeom prst="roundRect">
            <a:avLst>
              <a:gd name="adj" fmla="val 7000"/>
            </a:avLst>
          </a:prstGeom>
          <a:solidFill>
            <a:srgbClr val="162720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3300984"/>
            <a:ext cx="1865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0E89C"/>
                </a:solidFill>
                <a:latin typeface="Segoe UI"/>
              </a:rPr>
              <a:t>CASE LOOP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" y="3685032"/>
            <a:ext cx="1865376" cy="7223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80" b="0">
                <a:solidFill>
                  <a:srgbClr val="9DB0A8"/>
                </a:solidFill>
                <a:latin typeface="Segoe UI"/>
              </a:rPr>
              <a:t>Identity + face-match across the whole document bundle feed the tier.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34640" y="3634739"/>
            <a:ext cx="19796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10E89C"/>
                </a:solidFill>
                <a:latin typeface="Segoe UI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54312" y="3154680"/>
            <a:ext cx="2194560" cy="1325880"/>
          </a:xfrm>
          <a:prstGeom prst="roundRect">
            <a:avLst>
              <a:gd name="adj" fmla="val 7000"/>
            </a:avLst>
          </a:prstGeom>
          <a:solidFill>
            <a:srgbClr val="162720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18904" y="3300984"/>
            <a:ext cx="1865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0E89C"/>
                </a:solidFill>
                <a:latin typeface="Segoe UI"/>
              </a:rPr>
              <a:t>LEARNING LOOP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18904" y="3685032"/>
            <a:ext cx="1865376" cy="7223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80" b="0">
                <a:solidFill>
                  <a:srgbClr val="9DB0A8"/>
                </a:solidFill>
                <a:latin typeface="Segoe UI"/>
              </a:rPr>
              <a:t>Underwriter's genuine/fraud verdict → flywheel → the models retrain.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59087" y="3634739"/>
            <a:ext cx="1952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10E89C"/>
                </a:solidFill>
                <a:latin typeface="Segoe UI"/>
              </a:rPr>
              <a:t>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5448" cy="155448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EAF6F0"/>
                </a:solidFill>
                <a:latin typeface="Segoe UI"/>
              </a:rPr>
              <a:t>Trust</a:t>
            </a:r>
            <a:r>
              <a:rPr sz="1400" b="1">
                <a:solidFill>
                  <a:srgbClr val="10E89C"/>
                </a:solidFill>
                <a:latin typeface="Segoe UI"/>
              </a:rPr>
              <a:t>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E89C"/>
                </a:solidFill>
                <a:latin typeface="Segoe UI"/>
              </a:rPr>
              <a:t>WORKFLOW IN DETAIL · 1 OF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252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>
                <a:solidFill>
                  <a:srgbClr val="EAF6F0"/>
                </a:solidFill>
                <a:latin typeface="Segoe UI"/>
              </a:rPr>
              <a:t>From upload to forensic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9DB0A8"/>
                </a:solidFill>
                <a:latin typeface="Segoe UI"/>
              </a:rPr>
              <a:t>TrustLens — AI Document-Fraud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5440680" cy="1170432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7" y="2395728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414016"/>
            <a:ext cx="365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B1410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23774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10E89C"/>
                </a:solidFill>
                <a:latin typeface="Segoe UI"/>
              </a:rPr>
              <a:t>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27432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9DB0A8"/>
                </a:solidFill>
                <a:latin typeface="Segoe UI"/>
              </a:rPr>
              <a:t>Upload (PDF/JPG/PNG/DOCX) → FastAPI /api/analyze; file saved to disk + MinIO, a job_id is issued and a Celery task is queued via Redis (async, non-blocking).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83864"/>
            <a:ext cx="5440680" cy="1170432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7" y="3685032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703320"/>
            <a:ext cx="365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B1410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366674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10E89C"/>
                </a:solidFill>
                <a:latin typeface="Segoe UI"/>
              </a:rPr>
              <a:t>Normalisation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" y="403250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9DB0A8"/>
                </a:solidFill>
                <a:latin typeface="Segoe UI"/>
              </a:rPr>
              <a:t>DOCX→PDF via LibreOffice; PDF pages rendered with PyMuPDF; images decoded. Detects born-digital vs scanned — which drives bank-safe calibration.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73168"/>
            <a:ext cx="5440680" cy="1170432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7" y="4974336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4992624"/>
            <a:ext cx="365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B1410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49560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10E89C"/>
                </a:solidFill>
                <a:latin typeface="Segoe UI"/>
              </a:rPr>
              <a:t>Text extraction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532180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9DB0A8"/>
                </a:solidFill>
                <a:latin typeface="Segoe UI"/>
              </a:rPr>
              <a:t>Born-digital text layer when present, else Tesseract OCR in English + Hindi + Gujarati. The method (scan vs digital) is recorded for downstream logic.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194560"/>
            <a:ext cx="5440680" cy="1170432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64808" y="2395728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2414016"/>
            <a:ext cx="365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B1410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0296" y="23774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10E89C"/>
                </a:solidFill>
                <a:latin typeface="Segoe UI"/>
              </a:rPr>
              <a:t>Classification (dual)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0296" y="27432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9DB0A8"/>
                </a:solidFill>
                <a:latin typeface="Segoe UI"/>
              </a:rPr>
              <a:t>Keyword DocSpec anchors (authoritative, explainable) + fine-tuned LayoutLMv3 (visual second opinion) → one of 26 doc types; agreement/disagreement flagged.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483864"/>
            <a:ext cx="5440680" cy="1170432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64808" y="3685032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3703320"/>
            <a:ext cx="365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B1410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0296" y="366674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10E89C"/>
                </a:solidFill>
                <a:latin typeface="Segoe UI"/>
              </a:rPr>
              <a:t>Entity extraction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0296" y="403250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9DB0A8"/>
                </a:solidFill>
                <a:latin typeface="Segoe UI"/>
              </a:rPr>
              <a:t>Regex for PAN, Aadhaar (+UIDAI Verhoeff), GSTIN, IFSC, Udyam, ITR-ack, passport-MRZ + spaCy NER (names/orgs). YOLO field detectors recover IDs from poor photos.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773168"/>
            <a:ext cx="5440680" cy="1170432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64808" y="4974336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8" y="4992624"/>
            <a:ext cx="365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B1410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0296" y="49560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10E89C"/>
                </a:solidFill>
                <a:latin typeface="Segoe UI"/>
              </a:rPr>
              <a:t>Forensic engine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0296" y="532180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9DB0A8"/>
                </a:solidFill>
                <a:latin typeface="Segoe UI"/>
              </a:rPr>
              <a:t>Seven scored signals (PDF metadata, font/spacing, signature-ELA, stamp YOLO+SIFT, bank-balance, ELA, ManTraNet) + localised criticals (photo-region tamper, Udyam QR).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5448" cy="155448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EAF6F0"/>
                </a:solidFill>
                <a:latin typeface="Segoe UI"/>
              </a:rPr>
              <a:t>Trust</a:t>
            </a:r>
            <a:r>
              <a:rPr sz="1400" b="1">
                <a:solidFill>
                  <a:srgbClr val="10E89C"/>
                </a:solidFill>
                <a:latin typeface="Segoe UI"/>
              </a:rPr>
              <a:t>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E89C"/>
                </a:solidFill>
                <a:latin typeface="Segoe UI"/>
              </a:rPr>
              <a:t>WORKFLOW IN DETAIL · 2 OF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252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>
                <a:solidFill>
                  <a:srgbClr val="EAF6F0"/>
                </a:solidFill>
                <a:latin typeface="Segoe UI"/>
              </a:rPr>
              <a:t>From verification to decision, audit &amp;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9DB0A8"/>
                </a:solidFill>
                <a:latin typeface="Segoe UI"/>
              </a:rPr>
              <a:t>TrustLens — AI Document-Fraud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5440680" cy="1170432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7" y="2395728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414016"/>
            <a:ext cx="365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B1410"/>
                </a:solidFill>
                <a:latin typeface="Segoe UI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23774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10E89C"/>
                </a:solidFill>
                <a:latin typeface="Segoe UI"/>
              </a:rPr>
              <a:t>Cross-source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27432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9DB0A8"/>
                </a:solidFill>
                <a:latin typeface="Segoe UI"/>
              </a:rPr>
              <a:t>Parallel calls to DigiLocker, GSTN, Account Aggregator, Income-Tax e-Filing &amp; Udyam; the authoritative name must match. Fabricated Aadhaar fails the Verhoeff check.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83864"/>
            <a:ext cx="5440680" cy="1170432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7" y="3685032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703320"/>
            <a:ext cx="365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B1410"/>
                </a:solidFill>
                <a:latin typeface="Segoe U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366674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10E89C"/>
                </a:solidFill>
                <a:latin typeface="Segoe UI"/>
              </a:rPr>
              <a:t>Trust scoring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" y="403250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9DB0A8"/>
                </a:solidFill>
                <a:latin typeface="Segoe UI"/>
              </a:rPr>
              <a:t>The 7-feature vector → XGBoost → Trust Score 0–100, with SHAP per-feature attribution showing exactly which signal drove the result. Weighted fallback if model absent.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73168"/>
            <a:ext cx="5440680" cy="1170432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7" y="4974336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4992624"/>
            <a:ext cx="365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B1410"/>
                </a:solidFill>
                <a:latin typeface="Segoe UI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49560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10E89C"/>
                </a:solidFill>
                <a:latin typeface="Segoe UI"/>
              </a:rPr>
              <a:t>Tier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532180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9DB0A8"/>
                </a:solidFill>
                <a:latin typeface="Segoe UI"/>
              </a:rPr>
              <a:t>GREEN (≥85, no critical) · YELLOW (review) · RED (&lt;50 or a critical forgery indicator). Review-only flags never auto-reject a genuine doc. The human always decides.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194560"/>
            <a:ext cx="5440680" cy="1170432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64808" y="2395728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2414016"/>
            <a:ext cx="365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B1410"/>
                </a:solidFill>
                <a:latin typeface="Segoe UI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0296" y="23774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10E89C"/>
                </a:solidFill>
                <a:latin typeface="Segoe UI"/>
              </a:rPr>
              <a:t>Evidence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0296" y="27432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9DB0A8"/>
                </a:solidFill>
                <a:latin typeface="Segoe UI"/>
              </a:rPr>
              <a:t>A local Llama 3.1 8B model writes a plain-language explanation; ELA/ManTraNet heatmaps are saved to MinIO and shown in the evidence viewer.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483864"/>
            <a:ext cx="5440680" cy="1170432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64808" y="3685032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3703320"/>
            <a:ext cx="365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B1410"/>
                </a:solidFill>
                <a:latin typeface="Segoe UI"/>
              </a:rP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0296" y="366674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10E89C"/>
                </a:solidFill>
                <a:latin typeface="Segoe UI"/>
              </a:rPr>
              <a:t>Persist + audit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0296" y="403250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9DB0A8"/>
                </a:solidFill>
                <a:latin typeface="Segoe UI"/>
              </a:rPr>
              <a:t>Result is stored and an append-only AuditLog row freezes the full report (signals, SHAP, entities, heatmap) — immutable, for RBI compliance.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773168"/>
            <a:ext cx="5440680" cy="1170432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64808" y="4974336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8" y="4992624"/>
            <a:ext cx="365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B1410"/>
                </a:solidFill>
                <a:latin typeface="Segoe UI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0296" y="49560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10E89C"/>
                </a:solidFill>
                <a:latin typeface="Segoe UI"/>
              </a:rPr>
              <a:t>Case + flywheel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0296" y="532180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9DB0A8"/>
                </a:solidFill>
                <a:latin typeface="Segoe UI"/>
              </a:rPr>
              <a:t>Across a bundle: identity + face-match consistency (conflict → RED/review). The underwriter's confirmed verdict feeds active-learning retraining.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5448" cy="155448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EAF6F0"/>
                </a:solidFill>
                <a:latin typeface="Segoe UI"/>
              </a:rPr>
              <a:t>Trust</a:t>
            </a:r>
            <a:r>
              <a:rPr sz="1400" b="1">
                <a:solidFill>
                  <a:srgbClr val="10E89C"/>
                </a:solidFill>
                <a:latin typeface="Segoe UI"/>
              </a:rPr>
              <a:t>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E89C"/>
                </a:solidFill>
                <a:latin typeface="Segoe UI"/>
              </a:rPr>
              <a:t>MULTI-MODEL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252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>
                <a:solidFill>
                  <a:srgbClr val="EAF6F0"/>
                </a:solidFill>
                <a:latin typeface="Segoe UI"/>
              </a:rPr>
              <a:t>An ensemble — each model does what it is best 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9DB0A8"/>
                </a:solidFill>
                <a:latin typeface="Segoe UI"/>
              </a:rPr>
              <a:t>TrustLens — AI Document-Fraud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0280"/>
            <a:ext cx="5440680" cy="749808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331720"/>
            <a:ext cx="27432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EAF6F0"/>
                </a:solidFill>
                <a:latin typeface="Segoe UI"/>
              </a:rPr>
              <a:t>LayoutLMv3 (fine-tuned)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633472"/>
            <a:ext cx="31089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9DB0A8"/>
                </a:solidFill>
                <a:latin typeface="Segoe UI"/>
              </a:rPr>
              <a:t>Document classification — 26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404872"/>
            <a:ext cx="16459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0E89C"/>
                </a:solidFill>
                <a:latin typeface="Segoe UI"/>
              </a:rPr>
              <a:t>99.3% val · 97.9% real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99816"/>
            <a:ext cx="5440680" cy="749808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191256"/>
            <a:ext cx="27432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EAF6F0"/>
                </a:solidFill>
                <a:latin typeface="Segoe UI"/>
              </a:rPr>
              <a:t>XGBoost + SHAP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493008"/>
            <a:ext cx="31089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9DB0A8"/>
                </a:solidFill>
                <a:latin typeface="Segoe UI"/>
              </a:rPr>
              <a:t>Trust Score from 7 forensic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264408"/>
            <a:ext cx="16459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0E89C"/>
                </a:solidFill>
                <a:latin typeface="Segoe UI"/>
              </a:rPr>
              <a:t>88% acc · 0.95 AUC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59352"/>
            <a:ext cx="5440680" cy="749808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050791"/>
            <a:ext cx="27432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EAF6F0"/>
                </a:solidFill>
                <a:latin typeface="Segoe UI"/>
              </a:rPr>
              <a:t>ManTraNet (CNN)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352544"/>
            <a:ext cx="31089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9DB0A8"/>
                </a:solidFill>
                <a:latin typeface="Segoe UI"/>
              </a:rPr>
              <a:t>Copy-move / splice localisation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123944"/>
            <a:ext cx="16459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0E89C"/>
                </a:solidFill>
                <a:latin typeface="Segoe UI"/>
              </a:rPr>
              <a:t>pixel-AUC 0.76–0.88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18888"/>
            <a:ext cx="5440680" cy="749808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4910327"/>
            <a:ext cx="27432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EAF6F0"/>
                </a:solidFill>
                <a:latin typeface="Segoe UI"/>
              </a:rPr>
              <a:t>Photo-region forensics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5212079"/>
            <a:ext cx="31089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9DB0A8"/>
                </a:solidFill>
                <a:latin typeface="Segoe UI"/>
              </a:rPr>
              <a:t>Single-doc ID photo-swap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983479"/>
            <a:ext cx="16459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0E89C"/>
                </a:solidFill>
                <a:latin typeface="Segoe UI"/>
              </a:rPr>
              <a:t>96% recall · 0% FP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240280"/>
            <a:ext cx="5440680" cy="749808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2331720"/>
            <a:ext cx="27432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EAF6F0"/>
                </a:solidFill>
                <a:latin typeface="Segoe UI"/>
              </a:rPr>
              <a:t>FaceNet / MTCNN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2633472"/>
            <a:ext cx="31089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9DB0A8"/>
                </a:solidFill>
                <a:latin typeface="Segoe UI"/>
              </a:rPr>
              <a:t>Cross-document face match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2404872"/>
            <a:ext cx="16459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0E89C"/>
                </a:solidFill>
                <a:latin typeface="Segoe UI"/>
              </a:rPr>
              <a:t>96% match · 78% catch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099816"/>
            <a:ext cx="5440680" cy="749808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8" y="3191256"/>
            <a:ext cx="27432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EAF6F0"/>
                </a:solidFill>
                <a:latin typeface="Segoe UI"/>
              </a:rPr>
              <a:t>YOLOv8 ×5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3493008"/>
            <a:ext cx="31089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9DB0A8"/>
                </a:solidFill>
                <a:latin typeface="Segoe UI"/>
              </a:rPr>
              <a:t>Stamp / Aadhaar / PAN / sig / utility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3264408"/>
            <a:ext cx="16459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0E89C"/>
                </a:solidFill>
                <a:latin typeface="Segoe UI"/>
              </a:rPr>
              <a:t>stamps mAP 0.995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959352"/>
            <a:ext cx="5440680" cy="749808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8" y="4050791"/>
            <a:ext cx="27432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EAF6F0"/>
                </a:solidFill>
                <a:latin typeface="Segoe UI"/>
              </a:rPr>
              <a:t>spaCy trf + Verhoeff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8" y="4352544"/>
            <a:ext cx="31089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9DB0A8"/>
                </a:solidFill>
                <a:latin typeface="Segoe UI"/>
              </a:rPr>
              <a:t>Names + PAN/Aadhaar/GSTIN/Udyam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4123944"/>
            <a:ext cx="16459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0E89C"/>
                </a:solidFill>
                <a:latin typeface="Segoe UI"/>
              </a:rPr>
              <a:t>deterministic IDs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4818888"/>
            <a:ext cx="5440680" cy="749808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4808" y="4910327"/>
            <a:ext cx="27432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EAF6F0"/>
                </a:solidFill>
                <a:latin typeface="Segoe UI"/>
              </a:rPr>
              <a:t>Llama 3.1 8B (local)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8" y="5212079"/>
            <a:ext cx="31089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9DB0A8"/>
                </a:solidFill>
                <a:latin typeface="Segoe UI"/>
              </a:rPr>
              <a:t>Plain-language evidence 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1240" y="4983479"/>
            <a:ext cx="16459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0E89C"/>
                </a:solidFill>
                <a:latin typeface="Segoe UI"/>
              </a:rPr>
              <a:t>on-device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5448" cy="155448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EAF6F0"/>
                </a:solidFill>
                <a:latin typeface="Segoe UI"/>
              </a:rPr>
              <a:t>Trust</a:t>
            </a:r>
            <a:r>
              <a:rPr sz="1400" b="1">
                <a:solidFill>
                  <a:srgbClr val="10E89C"/>
                </a:solidFill>
                <a:latin typeface="Segoe UI"/>
              </a:rPr>
              <a:t>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E89C"/>
                </a:solidFill>
                <a:latin typeface="Segoe UI"/>
              </a:rPr>
              <a:t>FORENSIC DETECTION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252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>
                <a:solidFill>
                  <a:srgbClr val="EAF6F0"/>
                </a:solidFill>
                <a:latin typeface="Segoe UI"/>
              </a:rPr>
              <a:t>Ten ways a forged document gives itself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9DB0A8"/>
                </a:solidFill>
                <a:latin typeface="Segoe UI"/>
              </a:rPr>
              <a:t>TrustLens — AI Document-Fraud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5440680" cy="713232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30428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10E89C"/>
                </a:solidFill>
                <a:latin typeface="Segoe UI"/>
              </a:rPr>
              <a:t>PDF metadata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60604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Producer/tool, edit traces, suspicious software.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99232"/>
            <a:ext cx="5440680" cy="713232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10896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10E89C"/>
                </a:solidFill>
                <a:latin typeface="Segoe UI"/>
              </a:rPr>
              <a:t>Font &amp; spacing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41071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Word-edit fingerprint: duplicated font subsets.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03904"/>
            <a:ext cx="5440680" cy="713232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91363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10E89C"/>
                </a:solidFill>
                <a:latin typeface="Segoe UI"/>
              </a:rPr>
              <a:t>Error-Level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21538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Localised re-compression — pasted regions.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08576"/>
            <a:ext cx="5440680" cy="713232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71830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10E89C"/>
                </a:solidFill>
                <a:latin typeface="Segoe UI"/>
              </a:rPr>
              <a:t>ManTraNet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502005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Copy-move &amp; splicing heatmap (deep CNN).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413248"/>
            <a:ext cx="5440680" cy="713232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552297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10E89C"/>
                </a:solidFill>
                <a:latin typeface="Segoe UI"/>
              </a:rPr>
              <a:t>Stamp authentication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582472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YOLO + SIFT — the same stamp pasted twice.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194560"/>
            <a:ext cx="5440680" cy="713232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230428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10E89C"/>
                </a:solidFill>
                <a:latin typeface="Segoe UI"/>
              </a:rPr>
              <a:t>Signature region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260604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ELA on the signature area.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2999232"/>
            <a:ext cx="5440680" cy="713232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8" y="310896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10E89C"/>
                </a:solidFill>
                <a:latin typeface="Segoe UI"/>
              </a:rPr>
              <a:t>Bank-statement balance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341071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Running-balance break = edited transaction.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803904"/>
            <a:ext cx="5440680" cy="713232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391363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10E89C"/>
                </a:solidFill>
                <a:latin typeface="Segoe UI"/>
              </a:rPr>
              <a:t>Photo-region tamper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421538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Swapped ID photo (ManTraNet ∩ photo box).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608576"/>
            <a:ext cx="5440680" cy="713232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8" y="471830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10E89C"/>
                </a:solidFill>
                <a:latin typeface="Segoe UI"/>
              </a:rPr>
              <a:t>Cross-source mismatch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8" y="502005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Name vs DigiLocker/GSTN/Udyam record.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5413248"/>
            <a:ext cx="5440680" cy="713232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552297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10E89C"/>
                </a:solidFill>
                <a:latin typeface="Segoe UI"/>
              </a:rPr>
              <a:t>Fabricated Aadhaar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582472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Fails the UIDAI Verhoeff checksum.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5448" cy="155448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EAF6F0"/>
                </a:solidFill>
                <a:latin typeface="Segoe UI"/>
              </a:rPr>
              <a:t>Trust</a:t>
            </a:r>
            <a:r>
              <a:rPr sz="1400" b="1">
                <a:solidFill>
                  <a:srgbClr val="10E89C"/>
                </a:solidFill>
                <a:latin typeface="Segoe UI"/>
              </a:rPr>
              <a:t>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E89C"/>
                </a:solidFill>
                <a:latin typeface="Segoe UI"/>
              </a:rPr>
              <a:t>IDENTITY &amp; CROSS-DOCUMENT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252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>
                <a:solidFill>
                  <a:srgbClr val="EAF6F0"/>
                </a:solidFill>
                <a:latin typeface="Segoe UI"/>
              </a:rPr>
              <a:t>Catching identity fraud a reviewer would miss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9DB0A8"/>
                </a:solidFill>
                <a:latin typeface="Segoe UI"/>
              </a:rPr>
              <a:t>TrustLens — AI Document-Fraud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667512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50" b="1">
                <a:solidFill>
                  <a:srgbClr val="10E89C"/>
                </a:solidFill>
                <a:latin typeface="Segoe UI"/>
              </a:rPr>
              <a:t>▸  </a:t>
            </a:r>
            <a:r>
              <a:rPr sz="1550" b="0">
                <a:solidFill>
                  <a:srgbClr val="EAF6F0"/>
                </a:solidFill>
                <a:latin typeface="Segoe UI"/>
              </a:rPr>
              <a:t>Authoritative cross-source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487168"/>
            <a:ext cx="638251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DB0A8"/>
                </a:solidFill>
                <a:latin typeface="Segoe UI"/>
              </a:rPr>
              <a:t>DigiLocker (PAN/Aadhaar), GSTN, Account Aggregator, Income-Tax e-Filing, Udyam — name must match the record.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26664"/>
            <a:ext cx="667512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50" b="1">
                <a:solidFill>
                  <a:srgbClr val="10E89C"/>
                </a:solidFill>
                <a:latin typeface="Segoe UI"/>
              </a:rPr>
              <a:t>▸  </a:t>
            </a:r>
            <a:r>
              <a:rPr sz="1550" b="0">
                <a:solidFill>
                  <a:srgbClr val="EAF6F0"/>
                </a:solidFill>
                <a:latin typeface="Segoe UI"/>
              </a:rPr>
              <a:t>Case-level consistency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273552"/>
            <a:ext cx="638251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DB0A8"/>
                </a:solidFill>
                <a:latin typeface="Segoe UI"/>
              </a:rPr>
              <a:t>Same applicant across every document: conflicting hard-ID → RED; name/face mismatch →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13048"/>
            <a:ext cx="667512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50" b="1">
                <a:solidFill>
                  <a:srgbClr val="10E89C"/>
                </a:solidFill>
                <a:latin typeface="Segoe UI"/>
              </a:rPr>
              <a:t>▸  </a:t>
            </a:r>
            <a:r>
              <a:rPr sz="1550" b="0">
                <a:solidFill>
                  <a:srgbClr val="EAF6F0"/>
                </a:solidFill>
                <a:latin typeface="Segoe UI"/>
              </a:rPr>
              <a:t>Cross-document face 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4059935"/>
            <a:ext cx="638251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DB0A8"/>
                </a:solidFill>
                <a:latin typeface="Segoe UI"/>
              </a:rPr>
              <a:t>FaceNet across a case's IDs catches a mixed-identity photo.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599432"/>
            <a:ext cx="667512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50" b="1">
                <a:solidFill>
                  <a:srgbClr val="10E89C"/>
                </a:solidFill>
                <a:latin typeface="Segoe UI"/>
              </a:rPr>
              <a:t>▸  </a:t>
            </a:r>
            <a:r>
              <a:rPr sz="1550" b="0">
                <a:solidFill>
                  <a:srgbClr val="EAF6F0"/>
                </a:solidFill>
                <a:latin typeface="Segoe UI"/>
              </a:rPr>
              <a:t>Udyam QR 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4846320"/>
            <a:ext cx="638251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DB0A8"/>
                </a:solidFill>
                <a:latin typeface="Segoe UI"/>
              </a:rPr>
              <a:t>Decodes the certificate QR and cross-checks the URN.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85816"/>
            <a:ext cx="667512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50" b="1">
                <a:solidFill>
                  <a:srgbClr val="10E89C"/>
                </a:solidFill>
                <a:latin typeface="Segoe UI"/>
              </a:rPr>
              <a:t>▸  </a:t>
            </a:r>
            <a:r>
              <a:rPr sz="1550" b="0">
                <a:solidFill>
                  <a:srgbClr val="EAF6F0"/>
                </a:solidFill>
                <a:latin typeface="Segoe UI"/>
              </a:rPr>
              <a:t>Indian-name aware matching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5632704"/>
            <a:ext cx="638251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DB0A8"/>
                </a:solidFill>
                <a:latin typeface="Segoe UI"/>
              </a:rPr>
              <a:t>Fuzzy + phonetic (metaphone) so spelling variants still match.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2240280"/>
            <a:ext cx="3657600" cy="356616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24688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0E89C"/>
                </a:solidFill>
                <a:latin typeface="Segoe UI"/>
              </a:rPr>
              <a:t>Example caught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926080"/>
            <a:ext cx="3200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EAF6F0"/>
                </a:solidFill>
                <a:latin typeface="Segoe UI"/>
              </a:rPr>
              <a:t>Real PAN number,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EF4444"/>
                </a:solidFill>
                <a:latin typeface="Segoe UI"/>
              </a:rPr>
              <a:t>wrong name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600" b="0">
                <a:solidFill>
                  <a:srgbClr val="9DB0A8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9DB0A8"/>
                </a:solidFill>
                <a:latin typeface="Segoe UI"/>
              </a:rPr>
              <a:t>DigiLocker says “Rahul Verma”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9DB0A8"/>
                </a:solidFill>
                <a:latin typeface="Segoe UI"/>
              </a:rPr>
              <a:t>Document says “Suresh K”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600" b="0">
                <a:solidFill>
                  <a:srgbClr val="9DB0A8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10E89C"/>
                </a:solidFill>
                <a:latin typeface="Segoe UI"/>
              </a:rPr>
              <a:t>→ RED · fraud escalation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5448" cy="155448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EAF6F0"/>
                </a:solidFill>
                <a:latin typeface="Segoe UI"/>
              </a:rPr>
              <a:t>Trust</a:t>
            </a:r>
            <a:r>
              <a:rPr sz="1400" b="1">
                <a:solidFill>
                  <a:srgbClr val="10E89C"/>
                </a:solidFill>
                <a:latin typeface="Segoe UI"/>
              </a:rPr>
              <a:t>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E89C"/>
                </a:solidFill>
                <a:latin typeface="Segoe UI"/>
              </a:rPr>
              <a:t>RISK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252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>
                <a:solidFill>
                  <a:srgbClr val="EAF6F0"/>
                </a:solidFill>
                <a:latin typeface="Segoe UI"/>
              </a:rPr>
              <a:t>Three tiers — bank-safe, never auto-reject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9DB0A8"/>
                </a:solidFill>
                <a:latin typeface="Segoe UI"/>
              </a:rPr>
              <a:t>TrustLens — AI Document-Fraud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77440"/>
            <a:ext cx="3520440" cy="283464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377440"/>
            <a:ext cx="3520440" cy="118872"/>
          </a:xfrm>
          <a:prstGeom prst="rect">
            <a:avLst/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>
                <a:solidFill>
                  <a:srgbClr val="10E89C"/>
                </a:solidFill>
                <a:latin typeface="Segoe UI"/>
              </a:rPr>
              <a:t>GREEN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EAF6F0"/>
                </a:solidFill>
                <a:latin typeface="Segoe UI"/>
              </a:rPr>
              <a:t>Fast-track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9DB0A8"/>
                </a:solidFill>
                <a:latin typeface="Segoe UI"/>
              </a:rPr>
              <a:t>Trust ≥ 85 and no critical indicator. Clean, system-generated, verified.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377440"/>
            <a:ext cx="3520440" cy="283464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377440"/>
            <a:ext cx="3520440" cy="118872"/>
          </a:xfrm>
          <a:prstGeom prst="rect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69748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>
                <a:solidFill>
                  <a:srgbClr val="F4A52A"/>
                </a:solidFill>
                <a:latin typeface="Segoe UI"/>
              </a:rPr>
              <a:t>YELLOW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33756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EAF6F0"/>
                </a:solidFill>
                <a:latin typeface="Segoe UI"/>
              </a:rPr>
              <a:t>Underwriter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79476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9DB0A8"/>
                </a:solidFill>
                <a:latin typeface="Segoe UI"/>
              </a:rPr>
              <a:t>Uncertain or an unreliable-on-real-docs flag. A human decides — never auto-rejected.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377440"/>
            <a:ext cx="3520440" cy="283464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2377440"/>
            <a:ext cx="3520440" cy="11887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69748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>
                <a:solidFill>
                  <a:srgbClr val="EF4444"/>
                </a:solidFill>
                <a:latin typeface="Segoe UI"/>
              </a:rPr>
              <a:t>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3756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EAF6F0"/>
                </a:solidFill>
                <a:latin typeface="Segoe UI"/>
              </a:rPr>
              <a:t>Fraud escalation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79476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9DB0A8"/>
                </a:solidFill>
                <a:latin typeface="Segoe UI"/>
              </a:rPr>
              <a:t>Trust &lt; 50 or a critical forgery indicator (mismatch, tamper, fabricated ID).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32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EAF6F0"/>
                </a:solidFill>
                <a:latin typeface="Segoe UI"/>
              </a:rPr>
              <a:t>Calibration favours false positives over false negatives </a:t>
            </a:r>
            <a:r>
              <a:rPr sz="1400" b="0">
                <a:solidFill>
                  <a:srgbClr val="9DB0A8"/>
                </a:solidFill>
                <a:latin typeface="Segoe UI"/>
              </a:rPr>
              <a:t>— a missed forgery costs far more than a second look.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5448" cy="155448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EAF6F0"/>
                </a:solidFill>
                <a:latin typeface="Segoe UI"/>
              </a:rPr>
              <a:t>Trust</a:t>
            </a:r>
            <a:r>
              <a:rPr sz="1400" b="1">
                <a:solidFill>
                  <a:srgbClr val="10E89C"/>
                </a:solidFill>
                <a:latin typeface="Segoe UI"/>
              </a:rPr>
              <a:t>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E89C"/>
                </a:solidFill>
                <a:latin typeface="Segoe UI"/>
              </a:rPr>
              <a:t>DOCUMENT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252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>
                <a:solidFill>
                  <a:srgbClr val="EAF6F0"/>
                </a:solidFill>
                <a:latin typeface="Segoe UI"/>
              </a:rPr>
              <a:t>26 document types across every loan-file 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9DB0A8"/>
                </a:solidFill>
                <a:latin typeface="Segoe UI"/>
              </a:rPr>
              <a:t>TrustLens — AI Document-Fraud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0280"/>
            <a:ext cx="2212848" cy="3749039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423160"/>
            <a:ext cx="1847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10E89C"/>
                </a:solidFill>
                <a:latin typeface="Segoe UI"/>
              </a:rP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898648"/>
            <a:ext cx="184708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EAF6F0"/>
                </a:solidFill>
                <a:latin typeface="Segoe UI"/>
              </a:rPr>
              <a:t>• Aadhaar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EAF6F0"/>
                </a:solidFill>
                <a:latin typeface="Segoe UI"/>
              </a:rPr>
              <a:t>• PAN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EAF6F0"/>
                </a:solidFill>
                <a:latin typeface="Segoe UI"/>
              </a:rPr>
              <a:t>• Passport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240280"/>
            <a:ext cx="2212848" cy="3749039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2423160"/>
            <a:ext cx="1847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10E89C"/>
                </a:solidFill>
                <a:latin typeface="Segoe UI"/>
              </a:rPr>
              <a:t>Financial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898648"/>
            <a:ext cx="184708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EAF6F0"/>
                </a:solidFill>
                <a:latin typeface="Segoe UI"/>
              </a:rPr>
              <a:t>• Bank statement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EAF6F0"/>
                </a:solidFill>
                <a:latin typeface="Segoe UI"/>
              </a:rPr>
              <a:t>• ITR (full / V)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EAF6F0"/>
                </a:solidFill>
                <a:latin typeface="Segoe UI"/>
              </a:rPr>
              <a:t>• Form-16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EAF6F0"/>
                </a:solidFill>
                <a:latin typeface="Segoe UI"/>
              </a:rPr>
              <a:t>• Balance sheet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EAF6F0"/>
                </a:solidFill>
                <a:latin typeface="Segoe UI"/>
              </a:rPr>
              <a:t>• P&amp;L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EAF6F0"/>
                </a:solidFill>
                <a:latin typeface="Segoe UI"/>
              </a:rPr>
              <a:t>• Cash-flow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EAF6F0"/>
                </a:solidFill>
                <a:latin typeface="Segoe UI"/>
              </a:rPr>
              <a:t>• Audited financials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EAF6F0"/>
                </a:solidFill>
                <a:latin typeface="Segoe UI"/>
              </a:rPr>
              <a:t>• Salary slip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2240280"/>
            <a:ext cx="2212848" cy="3749039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2423160"/>
            <a:ext cx="1847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10E89C"/>
                </a:solidFill>
                <a:latin typeface="Segoe UI"/>
              </a:rPr>
              <a:t>Tax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898648"/>
            <a:ext cx="184708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EAF6F0"/>
                </a:solidFill>
                <a:latin typeface="Segoe UI"/>
              </a:rPr>
              <a:t>• GSTR-1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EAF6F0"/>
                </a:solidFill>
                <a:latin typeface="Segoe UI"/>
              </a:rPr>
              <a:t>• GSTR-3B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2240280"/>
            <a:ext cx="2212848" cy="3749039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19" y="2423160"/>
            <a:ext cx="1847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10E89C"/>
                </a:solidFill>
                <a:latin typeface="Segoe UI"/>
              </a:rPr>
              <a:t>Corporate / Legal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19" y="2898648"/>
            <a:ext cx="184708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EAF6F0"/>
                </a:solidFill>
                <a:latin typeface="Segoe UI"/>
              </a:rPr>
              <a:t>• MOA / AOA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EAF6F0"/>
                </a:solidFill>
                <a:latin typeface="Segoe UI"/>
              </a:rPr>
              <a:t>• Partnership deed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EAF6F0"/>
                </a:solidFill>
                <a:latin typeface="Segoe UI"/>
              </a:rPr>
              <a:t>• Board resolution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EAF6F0"/>
                </a:solidFill>
                <a:latin typeface="Segoe UI"/>
              </a:rPr>
              <a:t>• Power of attorney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EAF6F0"/>
                </a:solidFill>
                <a:latin typeface="Segoe UI"/>
              </a:rPr>
              <a:t>• Sanction letter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EAF6F0"/>
                </a:solidFill>
                <a:latin typeface="Segoe UI"/>
              </a:rPr>
              <a:t>• Guarantee letter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EAF6F0"/>
                </a:solidFill>
                <a:latin typeface="Segoe UI"/>
              </a:rPr>
              <a:t>• Indemnity bond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EAF6F0"/>
                </a:solidFill>
                <a:latin typeface="Segoe UI"/>
              </a:rPr>
              <a:t>• NOC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EAF6F0"/>
                </a:solidFill>
                <a:latin typeface="Segoe UI"/>
              </a:rPr>
              <a:t>• Loan agreement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EAF6F0"/>
                </a:solidFill>
                <a:latin typeface="Segoe UI"/>
              </a:rPr>
              <a:t>• Rental / lease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59" y="2240280"/>
            <a:ext cx="2212848" cy="3749039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39" y="2423160"/>
            <a:ext cx="1847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10E89C"/>
                </a:solidFill>
                <a:latin typeface="Segoe UI"/>
              </a:rPr>
              <a:t>KYC / MSME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39" y="2898648"/>
            <a:ext cx="184708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EAF6F0"/>
                </a:solidFill>
                <a:latin typeface="Segoe UI"/>
              </a:rPr>
              <a:t>• Udyam certificate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EAF6F0"/>
                </a:solidFill>
                <a:latin typeface="Segoe UI"/>
              </a:rPr>
              <a:t>• Utility bill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172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DB0A8"/>
                </a:solidFill>
                <a:latin typeface="Segoe UI"/>
              </a:rPr>
              <a:t>Bold additions this version: </a:t>
            </a:r>
            <a:r>
              <a:rPr sz="1200" b="1">
                <a:solidFill>
                  <a:srgbClr val="10E89C"/>
                </a:solidFill>
                <a:latin typeface="Segoe UI"/>
              </a:rPr>
              <a:t>rental/lease · Udyam (MSME) + QR · utility bills (water/gas/electricity)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5448" cy="155448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EAF6F0"/>
                </a:solidFill>
                <a:latin typeface="Segoe UI"/>
              </a:rPr>
              <a:t>Trust</a:t>
            </a:r>
            <a:r>
              <a:rPr sz="1400" b="1">
                <a:solidFill>
                  <a:srgbClr val="10E89C"/>
                </a:solidFill>
                <a:latin typeface="Segoe UI"/>
              </a:rPr>
              <a:t>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E89C"/>
                </a:solidFill>
                <a:latin typeface="Segoe UI"/>
              </a:rPr>
              <a:t>PERFORMANCE &amp;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252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>
                <a:solidFill>
                  <a:srgbClr val="EAF6F0"/>
                </a:solidFill>
                <a:latin typeface="Segoe UI"/>
              </a:rPr>
              <a:t>Measured on a reproducible, labelled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9DB0A8"/>
                </a:solidFill>
                <a:latin typeface="Segoe UI"/>
              </a:rPr>
              <a:t>TrustLens — AI Document-Fraud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86000"/>
            <a:ext cx="2606040" cy="137160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8716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10E89C"/>
                </a:solidFill>
                <a:latin typeface="Segoe UI"/>
              </a:rPr>
              <a:t>98.6%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94436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9DB0A8"/>
                </a:solidFill>
                <a:latin typeface="Segoe UI"/>
              </a:rPr>
              <a:t>Fraud hard-catch (332-doc benchmark)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286000"/>
            <a:ext cx="2606040" cy="137160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48716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EAF6F0"/>
                </a:solidFill>
                <a:latin typeface="Segoe UI"/>
              </a:rPr>
              <a:t>97.9%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94436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9DB0A8"/>
                </a:solidFill>
                <a:latin typeface="Segoe UI"/>
              </a:rPr>
              <a:t>Doc-type accuracy (real held-out)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286000"/>
            <a:ext cx="2606040" cy="137160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48716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10E89C"/>
                </a:solidFill>
                <a:latin typeface="Segoe UI"/>
              </a:rPr>
              <a:t>0.95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94436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9DB0A8"/>
                </a:solidFill>
                <a:latin typeface="Segoe UI"/>
              </a:rPr>
              <a:t>XGBoost ROC-AUC (real+synthetic)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2286000"/>
            <a:ext cx="2606040" cy="137160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48716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EAF6F0"/>
                </a:solidFill>
                <a:latin typeface="Segoe UI"/>
              </a:rPr>
              <a:t>91.6%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294436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9DB0A8"/>
                </a:solidFill>
                <a:latin typeface="Segoe UI"/>
              </a:rPr>
              <a:t>Tamper recall (fraud)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840480"/>
            <a:ext cx="10835640" cy="182880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0E89C"/>
                </a:solidFill>
                <a:latin typeface="Segoe UI"/>
              </a:rPr>
              <a:t>data/benchmark.py — one harness, every change gated against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8056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0E89C"/>
                </a:solidFill>
                <a:latin typeface="Segoe UI"/>
              </a:rPr>
              <a:t>▸  </a:t>
            </a:r>
            <a:r>
              <a:rPr sz="1300" b="0">
                <a:solidFill>
                  <a:srgbClr val="EAF6F0"/>
                </a:solidFill>
                <a:latin typeface="Segoe UI"/>
              </a:rPr>
              <a:t>Two tracks (document pipeline vs image forensics) + 4 fraud vectors: metadata-tamper, splice, photo-swap, copy-paste.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0E89C"/>
                </a:solidFill>
                <a:latin typeface="Segoe UI"/>
              </a:rPr>
              <a:t>▸  </a:t>
            </a:r>
            <a:r>
              <a:rPr sz="1300" b="0">
                <a:solidFill>
                  <a:srgbClr val="EAF6F0"/>
                </a:solidFill>
                <a:latin typeface="Segoe UI"/>
              </a:rPr>
              <a:t>Reports precision / recall / false-positive rate, per-vector recall and a per-type confusion matrix.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0E89C"/>
                </a:solidFill>
                <a:latin typeface="Segoe UI"/>
              </a:rPr>
              <a:t>▸  </a:t>
            </a:r>
            <a:r>
              <a:rPr sz="1300" b="0">
                <a:solidFill>
                  <a:srgbClr val="9DB0A8"/>
                </a:solidFill>
                <a:latin typeface="Segoe UI"/>
              </a:rPr>
              <a:t>Honest: synthetic-only numbers are optimistic — these real+benchmark figures are the representative 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5448" cy="155448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EAF6F0"/>
                </a:solidFill>
                <a:latin typeface="Segoe UI"/>
              </a:rPr>
              <a:t>Trust</a:t>
            </a:r>
            <a:r>
              <a:rPr sz="1400" b="1">
                <a:solidFill>
                  <a:srgbClr val="10E89C"/>
                </a:solidFill>
                <a:latin typeface="Segoe UI"/>
              </a:rPr>
              <a:t>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E89C"/>
                </a:solidFill>
                <a:latin typeface="Segoe UI"/>
              </a:rPr>
              <a:t>FINAL-VERSION HARDENING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252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>
                <a:solidFill>
                  <a:srgbClr val="EAF6F0"/>
                </a:solidFill>
                <a:latin typeface="Segoe UI"/>
              </a:rPr>
              <a:t>What the benchmark drove us to 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9DB0A8"/>
                </a:solidFill>
                <a:latin typeface="Segoe UI"/>
              </a:rPr>
              <a:t>TrustLens — AI Document-Fraud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50" b="1">
                <a:solidFill>
                  <a:srgbClr val="10E89C"/>
                </a:solidFill>
                <a:latin typeface="Segoe UI"/>
              </a:rPr>
              <a:t>▸  </a:t>
            </a:r>
            <a:r>
              <a:rPr sz="1550" b="0">
                <a:solidFill>
                  <a:srgbClr val="EAF6F0"/>
                </a:solidFill>
                <a:latin typeface="Segoe UI"/>
              </a:rPr>
              <a:t>Eliminated a false-rejection on genuine documents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487168"/>
            <a:ext cx="10314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DB0A8"/>
                </a:solidFill>
                <a:latin typeface="Segoe UI"/>
              </a:rPr>
              <a:t>A genuine annual report was flagged “fabricated Aadhaar” (a tabular number); now context-gated — fixed, real fraud still caught.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50" b="1">
                <a:solidFill>
                  <a:srgbClr val="10E89C"/>
                </a:solidFill>
                <a:latin typeface="Segoe UI"/>
              </a:rPr>
              <a:t>▸  </a:t>
            </a:r>
            <a:r>
              <a:rPr sz="1550" b="0">
                <a:solidFill>
                  <a:srgbClr val="EAF6F0"/>
                </a:solidFill>
                <a:latin typeface="Segoe UI"/>
              </a:rPr>
              <a:t>Re-calibrated the photo-swap detector on real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401568"/>
            <a:ext cx="10314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DB0A8"/>
                </a:solidFill>
                <a:latin typeface="Segoe UI"/>
              </a:rPr>
              <a:t>In-box threshold 0.30→0.55 — genuine false-positives 7% → 0% with 94% swap recall.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690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50" b="1">
                <a:solidFill>
                  <a:srgbClr val="10E89C"/>
                </a:solidFill>
                <a:latin typeface="Segoe UI"/>
              </a:rPr>
              <a:t>▸  </a:t>
            </a:r>
            <a:r>
              <a:rPr sz="1550" b="0">
                <a:solidFill>
                  <a:srgbClr val="EAF6F0"/>
                </a:solidFill>
                <a:latin typeface="Segoe UI"/>
              </a:rPr>
              <a:t>Proved ManTraNet is correct on real PDFs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4315968"/>
            <a:ext cx="10314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DB0A8"/>
                </a:solidFill>
                <a:latin typeface="Segoe UI"/>
              </a:rPr>
              <a:t>The scary 26% synthetic false-positive was a render artifact; real born-digital PDFs trip it 0/24 — no calibration change needed.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9834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50" b="1">
                <a:solidFill>
                  <a:srgbClr val="10E89C"/>
                </a:solidFill>
                <a:latin typeface="Segoe UI"/>
              </a:rPr>
              <a:t>▸  </a:t>
            </a:r>
            <a:r>
              <a:rPr sz="1550" b="0">
                <a:solidFill>
                  <a:srgbClr val="EAF6F0"/>
                </a:solidFill>
                <a:latin typeface="Segoe UI"/>
              </a:rPr>
              <a:t>Measured, then declined, a risky retrain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5230368"/>
            <a:ext cx="10314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DB0A8"/>
                </a:solidFill>
                <a:latin typeface="Segoe UI"/>
              </a:rPr>
              <a:t>Folding localised tampers into the whole-image scorer dropped fraud recall — reverted; localised detectors own that job.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5448" cy="155448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EAF6F0"/>
                </a:solidFill>
                <a:latin typeface="Segoe UI"/>
              </a:rPr>
              <a:t>Trust</a:t>
            </a:r>
            <a:r>
              <a:rPr sz="1400" b="1">
                <a:solidFill>
                  <a:srgbClr val="10E89C"/>
                </a:solidFill>
                <a:latin typeface="Segoe UI"/>
              </a:rPr>
              <a:t>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E89C"/>
                </a:solidFill>
                <a:latin typeface="Segoe UI"/>
              </a:rPr>
              <a:t>EXPLAINABLE · SECURE · COMPLIANT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252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>
                <a:solidFill>
                  <a:srgbClr val="EAF6F0"/>
                </a:solidFill>
                <a:latin typeface="Segoe UI"/>
              </a:rPr>
              <a:t>Built for a regulated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9DB0A8"/>
                </a:solidFill>
                <a:latin typeface="Segoe UI"/>
              </a:rPr>
              <a:t>TrustLens — AI Document-Fraud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31720"/>
            <a:ext cx="3520440" cy="320040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56032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10E89C"/>
                </a:solidFill>
                <a:latin typeface="Segoe UI"/>
              </a:rPr>
              <a:t>Explainable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108960"/>
            <a:ext cx="30632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1">
                <a:solidFill>
                  <a:srgbClr val="10E89C"/>
                </a:solidFill>
                <a:latin typeface="Segoe UI"/>
              </a:rPr>
              <a:t>✓  </a:t>
            </a:r>
            <a:r>
              <a:rPr sz="1300" b="0">
                <a:solidFill>
                  <a:srgbClr val="EAF6F0"/>
                </a:solidFill>
                <a:latin typeface="Segoe UI"/>
              </a:rPr>
              <a:t>SHAP per-feature attribution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1">
                <a:solidFill>
                  <a:srgbClr val="10E89C"/>
                </a:solidFill>
                <a:latin typeface="Segoe UI"/>
              </a:rPr>
              <a:t>✓  </a:t>
            </a:r>
            <a:r>
              <a:rPr sz="1300" b="0">
                <a:solidFill>
                  <a:srgbClr val="EAF6F0"/>
                </a:solidFill>
                <a:latin typeface="Segoe UI"/>
              </a:rPr>
              <a:t>ELA / ManTraNet heatmaps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1">
                <a:solidFill>
                  <a:srgbClr val="10E89C"/>
                </a:solidFill>
                <a:latin typeface="Segoe UI"/>
              </a:rPr>
              <a:t>✓  </a:t>
            </a:r>
            <a:r>
              <a:rPr sz="1300" b="0">
                <a:solidFill>
                  <a:srgbClr val="EAF6F0"/>
                </a:solidFill>
                <a:latin typeface="Segoe UI"/>
              </a:rPr>
              <a:t>Plain-language LLM report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1">
                <a:solidFill>
                  <a:srgbClr val="10E89C"/>
                </a:solidFill>
                <a:latin typeface="Segoe UI"/>
              </a:rPr>
              <a:t>✓  </a:t>
            </a:r>
            <a:r>
              <a:rPr sz="1300" b="0">
                <a:solidFill>
                  <a:srgbClr val="EAF6F0"/>
                </a:solidFill>
                <a:latin typeface="Segoe UI"/>
              </a:rPr>
              <a:t>Dual-classifier agreement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331720"/>
            <a:ext cx="3520440" cy="320040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56032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10E89C"/>
                </a:solidFill>
                <a:latin typeface="Segoe UI"/>
              </a:rPr>
              <a:t>Secure &amp; on-prem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108960"/>
            <a:ext cx="30632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1">
                <a:solidFill>
                  <a:srgbClr val="10E89C"/>
                </a:solidFill>
                <a:latin typeface="Segoe UI"/>
              </a:rPr>
              <a:t>✓  </a:t>
            </a:r>
            <a:r>
              <a:rPr sz="1300" b="0">
                <a:solidFill>
                  <a:srgbClr val="EAF6F0"/>
                </a:solidFill>
                <a:latin typeface="Segoe UI"/>
              </a:rPr>
              <a:t>100% on-premise — no data egress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1">
                <a:solidFill>
                  <a:srgbClr val="10E89C"/>
                </a:solidFill>
                <a:latin typeface="Segoe UI"/>
              </a:rPr>
              <a:t>✓  </a:t>
            </a:r>
            <a:r>
              <a:rPr sz="1300" b="0">
                <a:solidFill>
                  <a:srgbClr val="EAF6F0"/>
                </a:solidFill>
                <a:latin typeface="Segoe UI"/>
              </a:rPr>
              <a:t>OAuth2 + JWT, role-based access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1">
                <a:solidFill>
                  <a:srgbClr val="10E89C"/>
                </a:solidFill>
                <a:latin typeface="Segoe UI"/>
              </a:rPr>
              <a:t>✓  </a:t>
            </a:r>
            <a:r>
              <a:rPr sz="1300" b="0">
                <a:solidFill>
                  <a:srgbClr val="EAF6F0"/>
                </a:solidFill>
                <a:latin typeface="Segoe UI"/>
              </a:rPr>
              <a:t>DPDP-Act / RBI friendly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1">
                <a:solidFill>
                  <a:srgbClr val="10E89C"/>
                </a:solidFill>
                <a:latin typeface="Segoe UI"/>
              </a:rPr>
              <a:t>✓  </a:t>
            </a:r>
            <a:r>
              <a:rPr sz="1300" b="0">
                <a:solidFill>
                  <a:srgbClr val="EAF6F0"/>
                </a:solidFill>
                <a:latin typeface="Segoe UI"/>
              </a:rPr>
              <a:t>Cloud LLM optional drop-in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331720"/>
            <a:ext cx="3520440" cy="320040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256032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10E89C"/>
                </a:solidFill>
                <a:latin typeface="Segoe UI"/>
              </a:rPr>
              <a:t>Compliant &amp; auditable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3108960"/>
            <a:ext cx="30632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1">
                <a:solidFill>
                  <a:srgbClr val="10E89C"/>
                </a:solidFill>
                <a:latin typeface="Segoe UI"/>
              </a:rPr>
              <a:t>✓  </a:t>
            </a:r>
            <a:r>
              <a:rPr sz="1300" b="0">
                <a:solidFill>
                  <a:srgbClr val="EAF6F0"/>
                </a:solidFill>
                <a:latin typeface="Segoe UI"/>
              </a:rPr>
              <a:t>Append-only audit log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1">
                <a:solidFill>
                  <a:srgbClr val="10E89C"/>
                </a:solidFill>
                <a:latin typeface="Segoe UI"/>
              </a:rPr>
              <a:t>✓  </a:t>
            </a:r>
            <a:r>
              <a:rPr sz="1300" b="0">
                <a:solidFill>
                  <a:srgbClr val="EAF6F0"/>
                </a:solidFill>
                <a:latin typeface="Segoe UI"/>
              </a:rPr>
              <a:t>Every decision timestamped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1">
                <a:solidFill>
                  <a:srgbClr val="10E89C"/>
                </a:solidFill>
                <a:latin typeface="Segoe UI"/>
              </a:rPr>
              <a:t>✓  </a:t>
            </a:r>
            <a:r>
              <a:rPr sz="1300" b="0">
                <a:solidFill>
                  <a:srgbClr val="EAF6F0"/>
                </a:solidFill>
                <a:latin typeface="Segoe UI"/>
              </a:rPr>
              <a:t>Immutable — never edited/deleted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1">
                <a:solidFill>
                  <a:srgbClr val="10E89C"/>
                </a:solidFill>
                <a:latin typeface="Segoe UI"/>
              </a:rPr>
              <a:t>✓  </a:t>
            </a:r>
            <a:r>
              <a:rPr sz="1300" b="0">
                <a:solidFill>
                  <a:srgbClr val="EAF6F0"/>
                </a:solidFill>
                <a:latin typeface="Segoe UI"/>
              </a:rPr>
              <a:t>Full evidence frozen per decision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5448" cy="155448"/>
          </a:xfrm>
          <a:prstGeom prst="roundRect">
            <a:avLst>
              <a:gd name="adj" fmla="val 25000"/>
            </a:avLst>
          </a:prstGeom>
          <a:solidFill>
            <a:srgbClr val="10E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EAF6F0"/>
                </a:solidFill>
                <a:latin typeface="Segoe UI"/>
              </a:rPr>
              <a:t>Trust</a:t>
            </a:r>
            <a:r>
              <a:rPr sz="1400" b="1">
                <a:solidFill>
                  <a:srgbClr val="10E89C"/>
                </a:solidFill>
                <a:latin typeface="Segoe UI"/>
              </a:rPr>
              <a:t>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E89C"/>
                </a:solidFill>
                <a:latin typeface="Segoe UI"/>
              </a:rPr>
              <a:t>GETS BETTER IN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252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>
                <a:solidFill>
                  <a:srgbClr val="EAF6F0"/>
                </a:solidFill>
                <a:latin typeface="Segoe UI"/>
              </a:rPr>
              <a:t>The active-learning flywheel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DB0A8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9DB0A8"/>
                </a:solidFill>
                <a:latin typeface="Segoe UI"/>
              </a:rPr>
              <a:t>TrustLens — AI Document-Fraud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68880"/>
            <a:ext cx="1993392" cy="132588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633472"/>
            <a:ext cx="181051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EAF6F0"/>
                </a:solidFill>
                <a:latin typeface="Segoe UI"/>
              </a:rPr>
              <a:t>Bank analyses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EAF6F0"/>
                </a:solidFill>
                <a:latin typeface="Segoe UI"/>
              </a:rPr>
              <a:t>documents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5184" y="2926080"/>
            <a:ext cx="2971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000" b="1">
                <a:solidFill>
                  <a:srgbClr val="10E89C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4932" y="2468880"/>
            <a:ext cx="1993392" cy="1325880"/>
          </a:xfrm>
          <a:prstGeom prst="roundRect">
            <a:avLst>
              <a:gd name="adj" fmla="val 7000"/>
            </a:avLst>
          </a:prstGeom>
          <a:solidFill>
            <a:srgbClr val="162720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6372" y="2633472"/>
            <a:ext cx="181051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E89C"/>
                </a:solidFill>
                <a:latin typeface="Segoe UI"/>
              </a:rPr>
              <a:t>Underwriter confirms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E89C"/>
                </a:solidFill>
                <a:latin typeface="Segoe UI"/>
              </a:rPr>
              <a:t>genuine / fraud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0036" y="2926080"/>
            <a:ext cx="2971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000" b="1">
                <a:solidFill>
                  <a:srgbClr val="10E89C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9784" y="2468880"/>
            <a:ext cx="1993392" cy="132588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21224" y="2633472"/>
            <a:ext cx="181051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EAF6F0"/>
                </a:solidFill>
                <a:latin typeface="Segoe UI"/>
              </a:rPr>
              <a:t>Labels → real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EAF6F0"/>
                </a:solidFill>
                <a:latin typeface="Segoe UI"/>
              </a:rPr>
              <a:t>training manifest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4888" y="2926080"/>
            <a:ext cx="2971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000" b="1">
                <a:solidFill>
                  <a:srgbClr val="10E89C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4636" y="2468880"/>
            <a:ext cx="1993392" cy="1325880"/>
          </a:xfrm>
          <a:prstGeom prst="roundRect">
            <a:avLst>
              <a:gd name="adj" fmla="val 7000"/>
            </a:avLst>
          </a:prstGeom>
          <a:solidFill>
            <a:srgbClr val="162720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075" y="2633472"/>
            <a:ext cx="181051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EAF6F0"/>
                </a:solidFill>
                <a:latin typeface="Segoe UI"/>
              </a:rPr>
              <a:t>Models retrain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EAF6F0"/>
                </a:solidFill>
                <a:latin typeface="Segoe UI"/>
              </a:rPr>
              <a:t>on real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9740" y="2926080"/>
            <a:ext cx="2971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000" b="1">
                <a:solidFill>
                  <a:srgbClr val="10E89C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19488" y="2468880"/>
            <a:ext cx="1993392" cy="1325880"/>
          </a:xfrm>
          <a:prstGeom prst="roundRect">
            <a:avLst>
              <a:gd name="adj" fmla="val 7000"/>
            </a:avLst>
          </a:prstGeom>
          <a:solidFill>
            <a:srgbClr val="12201A"/>
          </a:solidFill>
          <a:ln w="12700">
            <a:solidFill>
              <a:srgbClr val="25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0928" y="2633472"/>
            <a:ext cx="181051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E89C"/>
                </a:solidFill>
                <a:latin typeface="Segoe UI"/>
              </a:rPr>
              <a:t>Sharper detection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E89C"/>
                </a:solidFill>
                <a:latin typeface="Segoe UI"/>
              </a:rPr>
              <a:t>next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EAF6F0"/>
                </a:solidFill>
                <a:latin typeface="Segoe UI"/>
              </a:rPr>
              <a:t>TrustLens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92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10E89C"/>
                </a:solidFill>
                <a:latin typeface="Segoe UI"/>
              </a:rPr>
              <a:t>Seconds, not days. Explainable, on-premise, and bank-safe.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9DB0A8"/>
                </a:solidFill>
                <a:latin typeface="Segoe UI"/>
              </a:rPr>
              <a:t>98.6% fraud caught · 26 document types · 0 customer-data egress · never auto-rejects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